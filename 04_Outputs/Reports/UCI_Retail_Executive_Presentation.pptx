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2344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</a:defRPr>
            </a:pPr>
            <a:r>
              <a:t>UCI Online Retail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57400"/>
            <a:ext cx="10058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0" i="0">
                <a:solidFill>
                  <a:srgbClr val="BBDEFB"/>
                </a:solidFill>
              </a:defRPr>
            </a:pPr>
            <a:r>
              <a:t>Business Data Analysis — Executive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971800"/>
            <a:ext cx="2560320" cy="635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79476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 i="0">
                <a:solidFill>
                  <a:srgbClr val="FFFFFF"/>
                </a:solidFill>
              </a:defRPr>
            </a:pPr>
            <a:r>
              <a:t>Prepared by: Abdeljalil El Khyati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15968"/>
            <a:ext cx="7315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 i="0">
                <a:solidFill>
                  <a:srgbClr val="BBDEFB"/>
                </a:solidFill>
              </a:defRPr>
            </a:pPr>
            <a:r>
              <a:t>Lead Data Analyst |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7772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1">
                <a:solidFill>
                  <a:srgbClr val="90CAF9"/>
                </a:solidFill>
              </a:defRPr>
            </a:pPr>
            <a:r>
              <a:t>UCI Online Retail Dataset — ID 352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984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E75B6"/>
                </a:solidFill>
              </a:defRPr>
            </a:pPr>
            <a:r>
              <a:t>Four signals define the business 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2606040" cy="1234440"/>
          </a:xfrm>
          <a:prstGeom prst="roundRect">
            <a:avLst/>
          </a:prstGeom>
          <a:solidFill>
            <a:srgbClr val="E8F1FA"/>
          </a:solidFill>
          <a:ln w="1651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655063"/>
            <a:ext cx="22768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E75B6"/>
                </a:solidFill>
              </a:defRPr>
            </a:pPr>
            <a:r>
              <a:t>£10.64M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2221991"/>
            <a:ext cx="2313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D3238"/>
                </a:solidFill>
              </a:defRPr>
            </a:pPr>
            <a:r>
              <a:t>Valid transaction revenue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508760"/>
            <a:ext cx="2606040" cy="1234440"/>
          </a:xfrm>
          <a:prstGeom prst="roundRect">
            <a:avLst/>
          </a:prstGeom>
          <a:solidFill>
            <a:srgbClr val="EAF6EF"/>
          </a:solidFill>
          <a:ln w="1651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02152" y="1655063"/>
            <a:ext cx="22768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E8B57"/>
                </a:solidFill>
              </a:defRPr>
            </a:pPr>
            <a:r>
              <a:t>£10.11M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83864" y="2221991"/>
            <a:ext cx="2313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D3238"/>
                </a:solidFill>
              </a:defRPr>
            </a:pPr>
            <a:r>
              <a:t>Clean physical-product revenue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508760"/>
            <a:ext cx="2606040" cy="1234440"/>
          </a:xfrm>
          <a:prstGeom prst="roundRect">
            <a:avLst/>
          </a:prstGeom>
          <a:solidFill>
            <a:srgbClr val="E8F1FA"/>
          </a:solidFill>
          <a:ln w="1651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91072" y="1655063"/>
            <a:ext cx="22768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E75B6"/>
                </a:solidFill>
              </a:defRPr>
            </a:pPr>
            <a:r>
              <a:t>4,338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2784" y="2221991"/>
            <a:ext cx="2313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D3238"/>
                </a:solidFill>
              </a:defRPr>
            </a:pPr>
            <a:r>
              <a:t>Known customers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1508760"/>
            <a:ext cx="2606040" cy="1234440"/>
          </a:xfrm>
          <a:prstGeom prst="roundRect">
            <a:avLst/>
          </a:prstGeom>
          <a:solidFill>
            <a:srgbClr val="FCF2E6"/>
          </a:solidFill>
          <a:ln w="1651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79992" y="1655063"/>
            <a:ext cx="22768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E67E22"/>
                </a:solidFill>
              </a:defRPr>
            </a:pPr>
            <a:r>
              <a:t>£1.50M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61704" y="2221991"/>
            <a:ext cx="2313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D3238"/>
                </a:solidFill>
              </a:defRPr>
            </a:pPr>
            <a:r>
              <a:t>November 2011 peak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0632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2E75B6"/>
                </a:solidFill>
              </a:defRPr>
            </a:pPr>
            <a:r>
              <a:t>KEY 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383280"/>
            <a:ext cx="10881360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D3238"/>
                </a:solidFill>
              </a:defRPr>
            </a:pPr>
            <a:r>
              <a:t>Seasonality: November 2011 was the highest observed month at £1.50M.</a:t>
            </a:r>
          </a:p>
          <a:p>
            <a:pPr>
              <a:spcAft>
                <a:spcPts val="1000"/>
              </a:spcAft>
              <a:defRPr sz="1500">
                <a:solidFill>
                  <a:srgbClr val="2D3238"/>
                </a:solidFill>
              </a:defRPr>
            </a:pPr>
            <a:r>
              <a:t>Customer concentration: the top 26% of known customers generated 80% of known-customer revenue; Gini = 0.716.</a:t>
            </a:r>
          </a:p>
          <a:p>
            <a:pPr>
              <a:spcAft>
                <a:spcPts val="1000"/>
              </a:spcAft>
              <a:defRPr sz="1500">
                <a:solidFill>
                  <a:srgbClr val="2D3238"/>
                </a:solidFill>
              </a:defRPr>
            </a:pPr>
            <a:r>
              <a:t>Geographic concentration: the United Kingdom represented 84.59% of revenue and 90.0% of Champions.</a:t>
            </a:r>
          </a:p>
          <a:p>
            <a:pPr>
              <a:spcAft>
                <a:spcPts val="1000"/>
              </a:spcAft>
              <a:defRPr sz="1500">
                <a:solidFill>
                  <a:srgbClr val="2D3238"/>
                </a:solidFill>
              </a:defRPr>
            </a:pPr>
            <a:r>
              <a:t>Retention signal: 1,188 customers were classified as Potential Loyalists / At Risk; their historical revenue baseline was approximately £689K.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" y="5806440"/>
            <a:ext cx="9921240" cy="457200"/>
          </a:xfrm>
          <a:prstGeom prst="roundRect">
            <a:avLst/>
          </a:prstGeom>
          <a:solidFill>
            <a:srgbClr val="FCF2E6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07592" y="5916168"/>
            <a:ext cx="9592056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D3238"/>
                </a:solidFill>
              </a:defRPr>
            </a:pPr>
            <a:r>
              <a:t>Core message: revenue is substantial, but concentration and customer recency deserve management attention.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E7681"/>
                </a:solidFill>
              </a:defRPr>
            </a:pPr>
            <a:r>
              <a:t>UCI Online Retail Analysis | Abdeljalil El Khyati | September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Data Integrity &amp; Critical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984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E75B6"/>
                </a:solidFill>
              </a:defRPr>
            </a:pPr>
            <a:r>
              <a:t>The final dataset is traceable from raw transactions to physical-product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2560320" cy="1234440"/>
          </a:xfrm>
          <a:prstGeom prst="roundRect">
            <a:avLst/>
          </a:prstGeom>
          <a:solidFill>
            <a:srgbClr val="E8F1FA"/>
          </a:solidFill>
          <a:ln w="1651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563624"/>
            <a:ext cx="223113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E75B6"/>
                </a:solidFill>
              </a:defRPr>
            </a:pPr>
            <a:r>
              <a:t>541,909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2130552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D3238"/>
                </a:solidFill>
              </a:defRPr>
            </a:pPr>
            <a:r>
              <a:t>Raw transactions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417320"/>
            <a:ext cx="2560320" cy="1234440"/>
          </a:xfrm>
          <a:prstGeom prst="roundRect">
            <a:avLst/>
          </a:prstGeom>
          <a:solidFill>
            <a:srgbClr val="E8F1FA"/>
          </a:solidFill>
          <a:ln w="1651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56432" y="1563624"/>
            <a:ext cx="223113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E75B6"/>
                </a:solidFill>
              </a:defRPr>
            </a:pPr>
            <a:r>
              <a:t>524,878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38144" y="2130552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D3238"/>
                </a:solidFill>
              </a:defRPr>
            </a:pPr>
            <a:r>
              <a:t>Valid sales rows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417320"/>
            <a:ext cx="2560320" cy="1234440"/>
          </a:xfrm>
          <a:prstGeom prst="roundRect">
            <a:avLst/>
          </a:prstGeom>
          <a:solidFill>
            <a:srgbClr val="EAF6EF"/>
          </a:solidFill>
          <a:ln w="1651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99631" y="1563624"/>
            <a:ext cx="223113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E8B57"/>
                </a:solidFill>
              </a:defRPr>
            </a:pPr>
            <a:r>
              <a:t>522,728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1344" y="2130552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D3238"/>
                </a:solidFill>
              </a:defRPr>
            </a:pPr>
            <a:r>
              <a:t>Physical-product rows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1417320"/>
            <a:ext cx="2560320" cy="1234440"/>
          </a:xfrm>
          <a:prstGeom prst="roundRect">
            <a:avLst/>
          </a:prstGeom>
          <a:solidFill>
            <a:srgbClr val="EAF6EF"/>
          </a:solidFill>
          <a:ln w="1651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42832" y="1563624"/>
            <a:ext cx="223113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E8B57"/>
                </a:solidFill>
              </a:defRPr>
            </a:pPr>
            <a:r>
              <a:t>£0.00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24544" y="2130552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D3238"/>
                </a:solidFill>
              </a:defRPr>
            </a:pPr>
            <a:r>
              <a:t>Revenue reconciliation difference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9718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2E75B6"/>
                </a:solidFill>
              </a:defRPr>
            </a:pPr>
            <a:r>
              <a:t>KEY QUALITY DECISIONS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246120"/>
            <a:ext cx="662940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2D3238"/>
                </a:solidFill>
              </a:defRPr>
            </a:pPr>
            <a:r>
              <a:t>Missing CustomerID: 24.93% of raw records are treated as Unknown for customer-level analysis.</a:t>
            </a:r>
          </a:p>
          <a:p>
            <a:pPr>
              <a:spcAft>
                <a:spcPts val="1000"/>
              </a:spcAft>
              <a:defRPr sz="1350">
                <a:solidFill>
                  <a:srgbClr val="2D3238"/>
                </a:solidFill>
              </a:defRPr>
            </a:pPr>
            <a:r>
              <a:t>Exact duplicates: 5,268 rows removed before analytical calculations.</a:t>
            </a:r>
          </a:p>
          <a:p>
            <a:pPr>
              <a:spcAft>
                <a:spcPts val="1000"/>
              </a:spcAft>
              <a:defRPr sz="1350">
                <a:solidFill>
                  <a:srgbClr val="2D3238"/>
                </a:solidFill>
              </a:defRPr>
            </a:pPr>
            <a:r>
              <a:t>Extreme outlier isolated: PAPER CRAFT , LITTLE BIRDIE — 80,995 units and £168,469.60.</a:t>
            </a:r>
          </a:p>
          <a:p>
            <a:pPr>
              <a:spcAft>
                <a:spcPts val="1000"/>
              </a:spcAft>
              <a:defRPr sz="1350">
                <a:solidFill>
                  <a:srgbClr val="2D3238"/>
                </a:solidFill>
              </a:defRPr>
            </a:pPr>
            <a:r>
              <a:t>Operational items separated from merchandise analysis: £362,103.47.</a:t>
            </a:r>
          </a:p>
          <a:p>
            <a:pPr>
              <a:spcAft>
                <a:spcPts val="1000"/>
              </a:spcAft>
              <a:defRPr sz="1350">
                <a:solidFill>
                  <a:srgbClr val="2D3238"/>
                </a:solidFill>
              </a:defRPr>
            </a:pPr>
            <a:r>
              <a:t>Final physical-product dataset: 522,728 rows and £10,111,537.73.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3337560"/>
            <a:ext cx="3794760" cy="960120"/>
          </a:xfrm>
          <a:prstGeom prst="roundRect">
            <a:avLst/>
          </a:prstGeom>
          <a:solidFill>
            <a:srgbClr val="FAEDEB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99831" y="3447288"/>
            <a:ext cx="3465576" cy="740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D3238"/>
                </a:solidFill>
              </a:defRPr>
            </a:pPr>
            <a:r>
              <a:t>December 2011 is incomplete: the dataset ends on 9 December, so it is not treated as a full-month observation.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4572000"/>
            <a:ext cx="3794760" cy="960120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99831" y="4681728"/>
            <a:ext cx="3465576" cy="740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D3238"/>
                </a:solidFill>
              </a:defRPr>
            </a:pPr>
            <a:r>
              <a:t>Validation result: row difference = 0 and revenue difference = £0.00.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E7681"/>
                </a:solidFill>
              </a:defRPr>
            </a:pPr>
            <a:r>
              <a:t>UCI Online Retail Analysis | Abdeljalil El Khyati | September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Key Finding 1 — November Revenue Peak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984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E75B6"/>
                </a:solidFill>
              </a:defRPr>
            </a:pPr>
            <a:r>
              <a:t>The November spike is accompanied by a clear change in product mix</a:t>
            </a:r>
          </a:p>
        </p:txBody>
      </p:sp>
      <p:pic>
        <p:nvPicPr>
          <p:cNvPr id="5" name="Picture 4" descr="01_monthly_revenu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5486400" cy="4069080"/>
          </a:xfrm>
          <a:prstGeom prst="rect">
            <a:avLst/>
          </a:prstGeom>
        </p:spPr>
      </p:pic>
      <p:pic>
        <p:nvPicPr>
          <p:cNvPr id="6" name="Picture 5" descr="06_november_seasonal_li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08760"/>
            <a:ext cx="5440680" cy="4069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743200" y="5715000"/>
            <a:ext cx="6720840" cy="566928"/>
          </a:xfrm>
          <a:prstGeom prst="roundRect">
            <a:avLst/>
          </a:prstGeom>
          <a:solidFill>
            <a:srgbClr val="FCF2E6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07792" y="5824728"/>
            <a:ext cx="6391655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D3238"/>
                </a:solidFill>
              </a:defRPr>
            </a:pPr>
            <a:r>
              <a:t>November 2011: £1,503,866.78</a:t>
            </a:r>
            <a:br/>
            <a:r>
              <a:t>RABBIT NIGHT LIGHT generated £34,478.40 with a seasonal lift of £32,409.02.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E7681"/>
                </a:solidFill>
              </a:defRPr>
            </a:pPr>
            <a:r>
              <a:t>UCI Online Retail Analysis | Abdeljalil El Khyati | September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Key Finding 2 — Customer Concentration &amp; RFM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984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E75B6"/>
                </a:solidFill>
              </a:defRPr>
            </a:pPr>
            <a:r>
              <a:t>Revenue is concentrated, while customer behaviour reveals four distinct groups</a:t>
            </a:r>
          </a:p>
        </p:txBody>
      </p:sp>
      <p:pic>
        <p:nvPicPr>
          <p:cNvPr id="5" name="Picture 4" descr="08_customer_revenue_concen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5440680" cy="3063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72200" y="1417320"/>
            <a:ext cx="2514600" cy="1051560"/>
          </a:xfrm>
          <a:prstGeom prst="roundRect">
            <a:avLst/>
          </a:prstGeom>
          <a:solidFill>
            <a:srgbClr val="E8F1FA"/>
          </a:solidFill>
          <a:ln w="1651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36792" y="1563624"/>
            <a:ext cx="218541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E75B6"/>
                </a:solidFill>
              </a:defRPr>
            </a:pPr>
            <a:r>
              <a:t>26%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18504" y="2130552"/>
            <a:ext cx="2221992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D3238"/>
                </a:solidFill>
              </a:defRPr>
            </a:pPr>
            <a:r>
              <a:t>Top customer share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400" y="1417320"/>
            <a:ext cx="2514600" cy="1051560"/>
          </a:xfrm>
          <a:prstGeom prst="roundRect">
            <a:avLst/>
          </a:prstGeom>
          <a:solidFill>
            <a:srgbClr val="E8F1FA"/>
          </a:solidFill>
          <a:ln w="1651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79992" y="1563624"/>
            <a:ext cx="218541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E75B6"/>
                </a:solidFill>
              </a:defRPr>
            </a:pPr>
            <a:r>
              <a:t>80%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61704" y="2130552"/>
            <a:ext cx="2221992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D3238"/>
                </a:solidFill>
              </a:defRPr>
            </a:pPr>
            <a:r>
              <a:t>Known-customer revenue generated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606040"/>
            <a:ext cx="2514600" cy="1051560"/>
          </a:xfrm>
          <a:prstGeom prst="roundRect">
            <a:avLst/>
          </a:prstGeom>
          <a:solidFill>
            <a:srgbClr val="FAEDEB"/>
          </a:solidFill>
          <a:ln w="1651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36792" y="2752344"/>
            <a:ext cx="218541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C0392B"/>
                </a:solidFill>
              </a:defRPr>
            </a:pPr>
            <a:r>
              <a:t>0.716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8504" y="3319272"/>
            <a:ext cx="2221992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D3238"/>
                </a:solidFill>
              </a:defRPr>
            </a:pPr>
            <a:r>
              <a:t>Gini coefficient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2606040"/>
            <a:ext cx="2514600" cy="1051560"/>
          </a:xfrm>
          <a:prstGeom prst="roundRect">
            <a:avLst/>
          </a:prstGeom>
          <a:solidFill>
            <a:srgbClr val="FCF2E6"/>
          </a:solidFill>
          <a:ln w="1651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79992" y="2752344"/>
            <a:ext cx="218541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E67E22"/>
                </a:solidFill>
              </a:defRPr>
            </a:pPr>
            <a:r>
              <a:t>2,073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61704" y="3319272"/>
            <a:ext cx="2221992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D3238"/>
                </a:solidFill>
              </a:defRPr>
            </a:pPr>
            <a:r>
              <a:t>At Risk + Lost customers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709160"/>
            <a:ext cx="2743200" cy="1453896"/>
          </a:xfrm>
          <a:prstGeom prst="roundRect">
            <a:avLst/>
          </a:prstGeom>
          <a:solidFill>
            <a:srgbClr val="EAF6EF"/>
          </a:solidFill>
          <a:ln w="1397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818888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2E8B57"/>
                </a:solidFill>
              </a:defRPr>
            </a:pPr>
            <a:r>
              <a:t>Champions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212080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2D3238"/>
                </a:solidFill>
              </a:defRPr>
            </a:pPr>
            <a:r>
              <a:t>1,243 customers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5577840"/>
            <a:ext cx="2414016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6E7681"/>
                </a:solidFill>
              </a:defRPr>
            </a:pPr>
            <a:r>
              <a:t>Recency: 18 days</a:t>
            </a:r>
            <a:br/>
            <a:r>
              <a:t>Frequency: 10.0</a:t>
            </a:r>
            <a:br/>
            <a:r>
              <a:t>Monetary: £5,465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4709160"/>
            <a:ext cx="2743200" cy="1453896"/>
          </a:xfrm>
          <a:prstGeom prst="roundRect">
            <a:avLst/>
          </a:prstGeom>
          <a:solidFill>
            <a:srgbClr val="E8F1FA"/>
          </a:solidFill>
          <a:ln w="1397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11879" y="4818888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2E75B6"/>
                </a:solidFill>
              </a:defRPr>
            </a:pPr>
            <a:r>
              <a:t>Loyal Customers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79" y="5212080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2D3238"/>
                </a:solidFill>
              </a:defRPr>
            </a:pPr>
            <a:r>
              <a:t>1,022 customers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39312" y="5577840"/>
            <a:ext cx="2414016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6E7681"/>
                </a:solidFill>
              </a:defRPr>
            </a:pPr>
            <a:r>
              <a:t>Recency: 55 days</a:t>
            </a:r>
            <a:br/>
            <a:r>
              <a:t>Frequency: 3.2</a:t>
            </a:r>
            <a:br/>
            <a:r>
              <a:t>Monetary: £1,176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4709160"/>
            <a:ext cx="2743200" cy="1453896"/>
          </a:xfrm>
          <a:prstGeom prst="roundRect">
            <a:avLst/>
          </a:prstGeom>
          <a:solidFill>
            <a:srgbClr val="FCF2E6"/>
          </a:solidFill>
          <a:ln w="1397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4818888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E67E22"/>
                </a:solidFill>
              </a:defRPr>
            </a:pPr>
            <a:r>
              <a:t>Potential Loyalists / At 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212080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2D3238"/>
                </a:solidFill>
              </a:defRPr>
            </a:pPr>
            <a:r>
              <a:t>1,188 customers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9672" y="5577840"/>
            <a:ext cx="2414016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6E7681"/>
                </a:solidFill>
              </a:defRPr>
            </a:pPr>
            <a:r>
              <a:t>Recency: 102 days</a:t>
            </a:r>
            <a:br/>
            <a:r>
              <a:t>Frequency: 1.6</a:t>
            </a:r>
            <a:br/>
            <a:r>
              <a:t>Monetary: £580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35440" y="4709160"/>
            <a:ext cx="2331720" cy="1453896"/>
          </a:xfrm>
          <a:prstGeom prst="roundRect">
            <a:avLst/>
          </a:prstGeom>
          <a:solidFill>
            <a:srgbClr val="FAEDEB"/>
          </a:solidFill>
          <a:ln w="1397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372600" y="4818888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C0392B"/>
                </a:solidFill>
              </a:defRPr>
            </a:pPr>
            <a:r>
              <a:t>Lost / Hibernating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5212080"/>
            <a:ext cx="2057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2D3238"/>
                </a:solidFill>
              </a:defRPr>
            </a:pPr>
            <a:r>
              <a:t>885 customers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00032" y="5577840"/>
            <a:ext cx="2002536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6E7681"/>
                </a:solidFill>
              </a:defRPr>
            </a:pPr>
            <a:r>
              <a:t>Recency: 223 days</a:t>
            </a:r>
            <a:br/>
            <a:r>
              <a:t>Frequency: 1.1</a:t>
            </a:r>
            <a:br/>
            <a:r>
              <a:t>Monetary: £228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E7681"/>
                </a:solidFill>
              </a:defRPr>
            </a:pPr>
            <a:r>
              <a:t>UCI Online Retail Analysis | Abdeljalil El Khyati | September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Key Finding 3 — Geographic Concentration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984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E75B6"/>
                </a:solidFill>
              </a:defRPr>
            </a:pPr>
            <a:r>
              <a:t>The United Kingdom dominates both revenue and the Champion customer base</a:t>
            </a:r>
          </a:p>
        </p:txBody>
      </p:sp>
      <p:pic>
        <p:nvPicPr>
          <p:cNvPr id="5" name="Picture 4" descr="09_top_10_countries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5486400" cy="3429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074920"/>
            <a:ext cx="3154680" cy="960120"/>
          </a:xfrm>
          <a:prstGeom prst="roundRect">
            <a:avLst/>
          </a:prstGeom>
          <a:solidFill>
            <a:srgbClr val="FAEDEB"/>
          </a:solidFill>
          <a:ln w="1651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5221224"/>
            <a:ext cx="28254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C0392B"/>
                </a:solidFill>
              </a:defRPr>
            </a:pPr>
            <a:r>
              <a:t>84.59%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5788152"/>
            <a:ext cx="286207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D3238"/>
                </a:solidFill>
              </a:defRPr>
            </a:pPr>
            <a:r>
              <a:t>United Kingdom revenue share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5074920"/>
            <a:ext cx="3154680" cy="960120"/>
          </a:xfrm>
          <a:prstGeom prst="roundRect">
            <a:avLst/>
          </a:prstGeom>
          <a:solidFill>
            <a:srgbClr val="FAEDEB"/>
          </a:solidFill>
          <a:ln w="1651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33672" y="5221224"/>
            <a:ext cx="28254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C0392B"/>
                </a:solidFill>
              </a:defRPr>
            </a:pPr>
            <a:r>
              <a:t>1,119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15384" y="5788152"/>
            <a:ext cx="286207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D3238"/>
                </a:solidFill>
              </a:defRPr>
            </a:pPr>
            <a:r>
              <a:t>UK Champions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5074920"/>
            <a:ext cx="1965960" cy="960120"/>
          </a:xfrm>
          <a:prstGeom prst="roundRect">
            <a:avLst/>
          </a:prstGeom>
          <a:solidFill>
            <a:srgbClr val="E8F1FA"/>
          </a:solidFill>
          <a:ln w="1651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71231" y="5221224"/>
            <a:ext cx="163677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E75B6"/>
                </a:solidFill>
              </a:defRPr>
            </a:pPr>
            <a:r>
              <a:t>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2944" y="5788152"/>
            <a:ext cx="1673351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D3238"/>
                </a:solidFill>
              </a:defRPr>
            </a:pPr>
            <a:r>
              <a:t>France Champions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55480" y="5074920"/>
            <a:ext cx="1965960" cy="960120"/>
          </a:xfrm>
          <a:prstGeom prst="roundRect">
            <a:avLst/>
          </a:prstGeom>
          <a:solidFill>
            <a:srgbClr val="E8F1FA"/>
          </a:solidFill>
          <a:ln w="1651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720072" y="5221224"/>
            <a:ext cx="163677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E75B6"/>
                </a:solidFill>
              </a:defRPr>
            </a:pPr>
            <a:r>
              <a:t>33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01784" y="5788152"/>
            <a:ext cx="1673351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D3238"/>
                </a:solidFill>
              </a:defRPr>
            </a:pPr>
            <a:r>
              <a:t>Germany Champions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E7681"/>
                </a:solidFill>
              </a:defRPr>
            </a:pPr>
            <a:r>
              <a:t>UCI Online Retail Analysis | Abdeljalil El Khyati | September 2026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5DCBA1C-802E-CC58-0F74-78ECB4E3D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1435608"/>
            <a:ext cx="5431536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Product Portfolio — Winners &amp; Low-Revenue 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984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E75B6"/>
                </a:solidFill>
              </a:defRPr>
            </a:pPr>
            <a:r>
              <a:t>Strong sellers coexist with a small group of very low-revenue products</a:t>
            </a:r>
          </a:p>
        </p:txBody>
      </p:sp>
      <p:pic>
        <p:nvPicPr>
          <p:cNvPr id="5" name="Picture 4" descr="03_top_10_physical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5486400" cy="3520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5166360"/>
            <a:ext cx="3749039" cy="777240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5276088"/>
            <a:ext cx="3419856" cy="5577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D3238"/>
                </a:solidFill>
              </a:defRPr>
            </a:pPr>
            <a:r>
              <a:t>Top product: REGENCY CAKESTAND 3 TIER</a:t>
            </a:r>
            <a:br/>
            <a:r>
              <a:t>£174,156.54 across 1,988 invoices.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5166360"/>
            <a:ext cx="3063240" cy="77724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82312" y="5276088"/>
            <a:ext cx="2734056" cy="5577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D3238"/>
                </a:solidFill>
              </a:defRPr>
            </a:pPr>
            <a:r>
              <a:t>Top 3 physical products account for approximately 3.8% of clean physical-product revenue.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5166360"/>
            <a:ext cx="3337560" cy="777240"/>
          </a:xfrm>
          <a:prstGeom prst="roundRect">
            <a:avLst/>
          </a:prstGeom>
          <a:solidFill>
            <a:srgbClr val="FCF2E6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82712" y="5276088"/>
            <a:ext cx="3008376" cy="5577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D3238"/>
                </a:solidFill>
              </a:defRPr>
            </a:pPr>
            <a:r>
              <a:t>Low-revenue tail: candidates for product/catalog review.</a:t>
            </a:r>
            <a:br/>
            <a:r>
              <a:t>The dataset does not contain inventory cost or storage-cost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E7681"/>
                </a:solidFill>
              </a:defRPr>
            </a:pPr>
            <a:r>
              <a:t>UCI Online Retail Analysis | Abdeljalil El Khyati | September 2026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8C0E8CD-8D5F-6852-41F9-5C4936937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2682" y="1490472"/>
            <a:ext cx="5465062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Operational Revenue &amp; Unknown Customer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984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E75B6"/>
                </a:solidFill>
              </a:defRPr>
            </a:pPr>
            <a:r>
              <a:t>Separating merchandise performance from non-product revenue and unidentified customer activity</a:t>
            </a:r>
          </a:p>
        </p:txBody>
      </p:sp>
      <p:pic>
        <p:nvPicPr>
          <p:cNvPr id="6" name="Picture 5" descr="02_monthly_revenue_known_vs_unkn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17320"/>
            <a:ext cx="5440680" cy="3429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" y="5074920"/>
            <a:ext cx="3154680" cy="960120"/>
          </a:xfrm>
          <a:prstGeom prst="roundRect">
            <a:avLst/>
          </a:prstGeom>
          <a:solidFill>
            <a:srgbClr val="FCF2E6"/>
          </a:solidFill>
          <a:ln w="1651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5221224"/>
            <a:ext cx="28254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E67E22"/>
                </a:solidFill>
              </a:defRPr>
            </a:pPr>
            <a:r>
              <a:t>£362K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5788152"/>
            <a:ext cx="286207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D3238"/>
                </a:solidFill>
              </a:defRPr>
            </a:pPr>
            <a:r>
              <a:t>Operational revenue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5074920"/>
            <a:ext cx="3154680" cy="960120"/>
          </a:xfrm>
          <a:prstGeom prst="roundRect">
            <a:avLst/>
          </a:prstGeom>
          <a:solidFill>
            <a:srgbClr val="E8F1FA"/>
          </a:solidFill>
          <a:ln w="1651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87952" y="5221224"/>
            <a:ext cx="28254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E75B6"/>
                </a:solidFill>
              </a:defRPr>
            </a:pPr>
            <a:r>
              <a:t>16.5%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9664" y="5788152"/>
            <a:ext cx="286207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D3238"/>
                </a:solidFill>
              </a:defRPr>
            </a:pPr>
            <a:r>
              <a:t>Revenue linked to Unknown CustomerID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5074920"/>
            <a:ext cx="3794760" cy="960120"/>
          </a:xfrm>
          <a:prstGeom prst="roundRect">
            <a:avLst/>
          </a:prstGeom>
          <a:solidFill>
            <a:srgbClr val="E8F1FA"/>
          </a:solidFill>
          <a:ln w="1651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25512" y="5221224"/>
            <a:ext cx="346557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E75B6"/>
                </a:solidFill>
              </a:defRPr>
            </a:pPr>
            <a:r>
              <a:t>£1.75M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07224" y="5788152"/>
            <a:ext cx="350215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D3238"/>
                </a:solidFill>
              </a:defRPr>
            </a:pPr>
            <a:r>
              <a:t>Revenue from unidentified customer transactions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E7681"/>
                </a:solidFill>
              </a:defRPr>
            </a:pPr>
            <a:r>
              <a:t>UCI Online Retail Analysis | Abdeljalil El Khyati | September 2026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F055111-E472-1733-0738-4F4DC43F0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85" y="1417320"/>
            <a:ext cx="5440681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Recommended Action Areas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984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E75B6"/>
                </a:solidFill>
              </a:defRPr>
            </a:pPr>
            <a:r>
              <a:t>Actions are framed as testable business responses to observed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3657600" cy="3424503"/>
          </a:xfrm>
          <a:prstGeom prst="roundRect">
            <a:avLst/>
          </a:prstGeom>
          <a:solidFill>
            <a:srgbClr val="FAEDEB"/>
          </a:solidFill>
          <a:ln w="1651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C0392B"/>
                </a:solidFill>
              </a:defRPr>
            </a:pPr>
            <a:r>
              <a:t>1. CUSTOMER RETENTION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57400"/>
            <a:ext cx="315468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320">
                <a:solidFill>
                  <a:srgbClr val="2D3238"/>
                </a:solidFill>
              </a:defRPr>
            </a:pPr>
            <a:r>
              <a:t>Segment the 1,188 Potential Loyalists / At Risk customers for targeted retention tests.</a:t>
            </a:r>
          </a:p>
          <a:p>
            <a:pPr>
              <a:spcAft>
                <a:spcPts val="1000"/>
              </a:spcAft>
              <a:defRPr sz="1320">
                <a:solidFill>
                  <a:srgbClr val="2D3238"/>
                </a:solidFill>
              </a:defRPr>
            </a:pPr>
            <a:r>
              <a:t>Use the historical £689K revenue baseline as context, not as a guaranteed recovery forecast.</a:t>
            </a:r>
          </a:p>
          <a:p>
            <a:pPr>
              <a:spcAft>
                <a:spcPts val="1000"/>
              </a:spcAft>
              <a:defRPr sz="1320">
                <a:solidFill>
                  <a:srgbClr val="2D3238"/>
                </a:solidFill>
              </a:defRPr>
            </a:pPr>
            <a:r>
              <a:t>Compare campaign performance against a control group before scaling.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0248" y="1417320"/>
            <a:ext cx="3657600" cy="3424503"/>
          </a:xfrm>
          <a:prstGeom prst="roundRect">
            <a:avLst/>
          </a:prstGeom>
          <a:solidFill>
            <a:srgbClr val="FCF2E6"/>
          </a:solidFill>
          <a:ln w="1651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98848" y="162763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E67E22"/>
                </a:solidFill>
              </a:defRPr>
            </a:pPr>
            <a:r>
              <a:t>2. SEASONAL PLANNING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057400"/>
            <a:ext cx="315468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320">
                <a:solidFill>
                  <a:srgbClr val="2D3238"/>
                </a:solidFill>
              </a:defRPr>
            </a:pPr>
            <a:r>
              <a:t>Use the November product-mix shift to support seasonal planning.</a:t>
            </a:r>
          </a:p>
          <a:p>
            <a:pPr>
              <a:spcAft>
                <a:spcPts val="1000"/>
              </a:spcAft>
              <a:defRPr sz="1320">
                <a:solidFill>
                  <a:srgbClr val="2D3238"/>
                </a:solidFill>
              </a:defRPr>
            </a:pPr>
            <a:r>
              <a:t>Monitor RABBIT NIGHT LIGHT and the top seasonal-lift products before the next peak period.</a:t>
            </a:r>
          </a:p>
          <a:p>
            <a:pPr>
              <a:spcAft>
                <a:spcPts val="1000"/>
              </a:spcAft>
              <a:defRPr sz="1320">
                <a:solidFill>
                  <a:srgbClr val="2D3238"/>
                </a:solidFill>
              </a:defRPr>
            </a:pPr>
            <a:r>
              <a:t>Separate recurring high-volume demand from products whose performance is concentrated in November.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9016" y="1417320"/>
            <a:ext cx="3657600" cy="3424503"/>
          </a:xfrm>
          <a:prstGeom prst="roundRect">
            <a:avLst/>
          </a:prstGeom>
          <a:solidFill>
            <a:srgbClr val="EAF6EF"/>
          </a:solidFill>
          <a:ln w="1651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57616" y="1627632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2E8B57"/>
                </a:solidFill>
              </a:defRPr>
            </a:pPr>
            <a:r>
              <a:t>3. CONCENTRATION &amp; PORTFOLIO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5048" y="2240280"/>
            <a:ext cx="315468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320">
                <a:solidFill>
                  <a:srgbClr val="2D3238"/>
                </a:solidFill>
              </a:defRPr>
            </a:pPr>
            <a:r>
              <a:t>Monitor UK concentration: 84.6% of revenue and 1,119 Champions.</a:t>
            </a:r>
          </a:p>
          <a:p>
            <a:pPr>
              <a:spcAft>
                <a:spcPts val="1000"/>
              </a:spcAft>
              <a:defRPr sz="1320">
                <a:solidFill>
                  <a:srgbClr val="2D3238"/>
                </a:solidFill>
              </a:defRPr>
            </a:pPr>
            <a:r>
              <a:t>Evaluate international markets using both revenue and customer counts, especially where sample sizes are small.</a:t>
            </a:r>
          </a:p>
          <a:p>
            <a:pPr>
              <a:spcAft>
                <a:spcPts val="1000"/>
              </a:spcAft>
              <a:defRPr sz="1320">
                <a:solidFill>
                  <a:srgbClr val="2D3238"/>
                </a:solidFill>
              </a:defRPr>
            </a:pPr>
            <a:r>
              <a:t>Review the low-revenue product tail before making catalog or inventory decisions.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E7681"/>
                </a:solidFill>
              </a:defRPr>
            </a:pPr>
            <a:r>
              <a:t>UCI Online Retail Analysis | Abdeljalil El Khyati | September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Next Steps for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984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E75B6"/>
                </a:solidFill>
              </a:defRPr>
            </a:pPr>
            <a:r>
              <a:t>The current analysis identifies where deeper analysis should begin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440680" cy="1545336"/>
          </a:xfrm>
          <a:prstGeom prst="roundRect">
            <a:avLst/>
          </a:prstGeom>
          <a:solidFill>
            <a:srgbClr val="E8F1FA"/>
          </a:solidFill>
          <a:ln w="1397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600200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 i="0">
                <a:solidFill>
                  <a:srgbClr val="2E75B6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1581912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2D3238"/>
                </a:solidFill>
              </a:defRPr>
            </a:pPr>
            <a:r>
              <a:t>Retention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984248"/>
            <a:ext cx="4343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 i="0">
                <a:solidFill>
                  <a:srgbClr val="6E7681"/>
                </a:solidFill>
              </a:defRPr>
            </a:pPr>
            <a:r>
              <a:t>Measure campaign lift among Potential Loyalists / At Risk customers.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417320"/>
            <a:ext cx="5440680" cy="1545336"/>
          </a:xfrm>
          <a:prstGeom prst="roundRect">
            <a:avLst/>
          </a:prstGeom>
          <a:solidFill>
            <a:srgbClr val="EAF6EF"/>
          </a:solidFill>
          <a:ln w="1397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64224" y="1600200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 i="0">
                <a:solidFill>
                  <a:srgbClr val="2E8B57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581912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2D3238"/>
                </a:solidFill>
              </a:defRPr>
            </a:pPr>
            <a:r>
              <a:t>Customer lifetime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984248"/>
            <a:ext cx="4343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 i="0">
                <a:solidFill>
                  <a:srgbClr val="6E7681"/>
                </a:solidFill>
              </a:defRPr>
            </a:pPr>
            <a:r>
              <a:t>Estimate the long-term value of Champions and Loyal Customers.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93008"/>
            <a:ext cx="5440680" cy="1453896"/>
          </a:xfrm>
          <a:prstGeom prst="roundRect">
            <a:avLst/>
          </a:prstGeom>
          <a:solidFill>
            <a:srgbClr val="FCF2E6"/>
          </a:solidFill>
          <a:ln w="1397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3675887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 i="0">
                <a:solidFill>
                  <a:srgbClr val="E67E22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3657600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2D3238"/>
                </a:solidFill>
              </a:defRPr>
            </a:pPr>
            <a:r>
              <a:t>Cohort retention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4059935"/>
            <a:ext cx="4343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 i="0">
                <a:solidFill>
                  <a:srgbClr val="6E7681"/>
                </a:solidFill>
              </a:defRPr>
            </a:pPr>
            <a:r>
              <a:t>Measure customer retention by acquisition period and identify changing patterns.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3493008"/>
            <a:ext cx="5440680" cy="1453896"/>
          </a:xfrm>
          <a:prstGeom prst="roundRect">
            <a:avLst/>
          </a:prstGeom>
          <a:solidFill>
            <a:srgbClr val="FAEDEB"/>
          </a:solidFill>
          <a:ln w="1397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64224" y="3675887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 i="0">
                <a:solidFill>
                  <a:srgbClr val="C0392B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657600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2D3238"/>
                </a:solidFill>
              </a:defRPr>
            </a:pPr>
            <a:r>
              <a:t>Market basket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059935"/>
            <a:ext cx="4343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 i="0">
                <a:solidFill>
                  <a:srgbClr val="6E7681"/>
                </a:solidFill>
              </a:defRPr>
            </a:pPr>
            <a:r>
              <a:t>Identify products frequently purchased together for cross-selling analysis.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75507" y="5257800"/>
            <a:ext cx="5440680" cy="1188720"/>
          </a:xfrm>
          <a:prstGeom prst="roundRect">
            <a:avLst/>
          </a:prstGeom>
          <a:solidFill>
            <a:srgbClr val="E8F1FA"/>
          </a:solidFill>
          <a:ln w="1397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29584" y="5417820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 i="0">
                <a:solidFill>
                  <a:srgbClr val="2E75B6"/>
                </a:solidFill>
              </a:defRPr>
            </a:pPr>
            <a:r>
              <a:rPr dirty="0"/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5440680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2D3238"/>
                </a:solidFill>
              </a:defRPr>
            </a:pPr>
            <a:r>
              <a:rPr dirty="0"/>
              <a:t>Unknown customer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797296"/>
            <a:ext cx="4343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 i="0">
                <a:solidFill>
                  <a:srgbClr val="6E7681"/>
                </a:solidFill>
              </a:defRPr>
            </a:pPr>
            <a:r>
              <a:rPr dirty="0"/>
              <a:t>Investigate the origin and conversion potential of transactions without </a:t>
            </a:r>
            <a:r>
              <a:rPr dirty="0" err="1"/>
              <a:t>CustomerID</a:t>
            </a:r>
            <a:r>
              <a:rPr dirty="0"/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E7681"/>
                </a:solidFill>
              </a:defRPr>
            </a:pPr>
            <a:r>
              <a:t>UCI Online Retail Analysis | Abdeljalil El Khyati | September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25880"/>
            <a:ext cx="73152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600" b="1" i="0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7315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0" i="0">
                <a:solidFill>
                  <a:srgbClr val="BBDEFB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063240"/>
            <a:ext cx="2560320" cy="635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7315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 i="0">
                <a:solidFill>
                  <a:srgbClr val="FFFFFF"/>
                </a:solidFill>
              </a:defRPr>
            </a:pPr>
            <a:r>
              <a:t>Abdeljalil El Khyati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BBDEFB"/>
                </a:solidFill>
              </a:defRPr>
            </a:pPr>
            <a:r>
              <a:t>Lead Data Analyst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006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90CAF9"/>
                </a:solidFill>
              </a:defRPr>
            </a:pPr>
            <a:r>
              <a:t>UCI Online Retail Dataset — ID 352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23560"/>
            <a:ext cx="960120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 i="1">
                <a:solidFill>
                  <a:srgbClr val="90CAF9"/>
                </a:solidFill>
              </a:defRPr>
            </a:pPr>
            <a:r>
              <a:rPr dirty="0"/>
              <a:t>Analysis conducted using Python, Pandas, Matplotlib and Seaborn.</a:t>
            </a:r>
            <a:br>
              <a:rPr dirty="0"/>
            </a:br>
            <a:r>
              <a:rPr dirty="0"/>
              <a:t>Implementation assistance: Qwen</a:t>
            </a:r>
            <a:r>
              <a:rPr lang="fr-FR" dirty="0"/>
              <a:t>,ai</a:t>
            </a:r>
            <a:r>
              <a:rPr dirty="0"/>
              <a:t> / ChatGPT 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928</Words>
  <Application>Microsoft Office PowerPoint</Application>
  <PresentationFormat>Widescreen</PresentationFormat>
  <Paragraphs>133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UCI Online Retail — Business Data Analysis</dc:title>
  <dc:subject>Executive Business Insights — Final V1.1</dc:subject>
  <dc:creator>Abdeljalil El Khyati</dc:creator>
  <cp:keywords>UCI Online Retail, Data Analysis, Python, Pandas, Business Intelligence</cp:keywords>
  <dc:description>Final V1.1 executive presentation generated from the validated analytical workflow.</dc:description>
  <cp:lastModifiedBy>abdeljalil el khyati</cp:lastModifiedBy>
  <cp:revision>2</cp:revision>
  <dcterms:created xsi:type="dcterms:W3CDTF">2013-01-27T09:14:16Z</dcterms:created>
  <dcterms:modified xsi:type="dcterms:W3CDTF">2026-09-17T22:51:01Z</dcterms:modified>
  <cp:category/>
</cp:coreProperties>
</file>