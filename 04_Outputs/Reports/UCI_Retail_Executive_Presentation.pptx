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95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</a:defRPr>
            </a:pPr>
            <a:r>
              <a:t>UCI Online Retail</a:t>
            </a:r>
          </a:p>
          <a:p>
            <a:pPr algn="l">
              <a:defRPr sz="3200">
                <a:solidFill>
                  <a:srgbClr val="BBDEFB"/>
                </a:solidFill>
              </a:defRPr>
            </a:pPr>
            <a:r>
              <a:t>Business Data Analysis — Executive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3935693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rPr b="1" dirty="0"/>
              <a:t>Prepared by: Abdeljalil El Khyati</a:t>
            </a:r>
          </a:p>
          <a:p>
            <a:pPr>
              <a:defRPr sz="1800">
                <a:solidFill>
                  <a:srgbClr val="BBDEFB"/>
                </a:solidFill>
              </a:defRPr>
            </a:pPr>
            <a:r>
              <a:rPr b="1" dirty="0"/>
              <a:t>Lead Data Analyst | September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2743200" cy="508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E75B6"/>
                </a:solidFill>
              </a:defRPr>
            </a:pPr>
            <a:r>
              <a:t>The Bottom Line — Key Business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📊 Scale: 541,909 transactions analyzed (Dec 2010 – Dec 2011), yielding £10.64M in valid revenue across 4,338 known customers.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🎯 Seasonality: November 2011 generated £1.5M (2x monthly average) driven by a dual-driver phenomenon: core B2B restocking + Christmas-themed product surge.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 Customer Concentration: Top 26% of customers generate 80% of revenue (Gini = 0.142) — a healthy, broad B2B wholesale base, not whale-dependent.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⚠️ Strategic Risk: UK accounts for 84.6% of revenue AND 90% of Champions — a dual concentration crisis requiring international diversification.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💡 Biggest Opportunity: 47.8% of customers are At Risk or Lost — targeted win-back campaigns could unlock ~£690K in annual revenue.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UCI Online Retail Analysis | Abdeljalil El Khyati | September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Data Integrity &amp; Critical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E75B6"/>
                </a:solidFill>
              </a:defRPr>
            </a:pPr>
            <a:r>
              <a:t>Evidence-based choices that ensured analytical rigor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✅ Missing CustomerID (24.93%): Labeled 'Unknown' for sales tracking; strictly excluded from RFM/Pareto analysis (likely B2C guest checkouts).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✅ Exact Duplicates (5,268 rows): Removed to prevent artificial inflation of metrics.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✅ Extreme Outlier Isolated: Single invoice of 'PAPER CRAFT, LITTLE BIRDIE' (80,995 units, £168,469.60) — isolated, not deleted, preserving total revenue reconciliation.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✅ Operational Items Excluded: £362,268.47 in DOTCOM POSTAGE, POSTAGE, Manual, Bank Charges removed from product rankings (service fees, not merchandise).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📈 Final Clean Dataset: 522,728 physical product transactions representing £10,279,842.33 in true merchandise revenue.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UCI Online Retail Analysis | Abdeljalil El Khyati | September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Key Finding 1: Seasonal Revenue Drivers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E75B6"/>
                </a:solidFill>
              </a:defRPr>
            </a:pPr>
            <a:r>
              <a:t>November 2011 — A Dual-Driver Phenomenon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📈 November 2011 Revenue: £1,503,866.78 — approximately 2x the average monthly revenue.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🔥 Driver A (Core Amplification): RABBIT NIGHT LIGHT generated £34,478.40 in November alone — 11.7x its monthly average (48.5% of annual revenue in one month).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🎄 Driver B (Seasonal Emergence): Christmas-themed products (PAPER CHAIN KIT, CHILLI LIGHTS, HOT WATER BOTTLE KEEP CALM) contributed £50K+ in incremental revenue.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🔄 Hybrid Model Confirmed: Only 40% overlap between November's Top 10 and annual Top 10 — predictable B2B restocking + distinct seasonal surge.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📋 Top November Product: RABBIT NIGHT LIGHT (£34,478.40, 487 invoices, Avg_Qty=29.65).</a:t>
            </a:r>
          </a:p>
        </p:txBody>
      </p:sp>
      <p:pic>
        <p:nvPicPr>
          <p:cNvPr id="6" name="Picture 5" descr="november_vs_other_month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737360"/>
            <a:ext cx="5029200" cy="2286000"/>
          </a:xfrm>
          <a:prstGeom prst="rect">
            <a:avLst/>
          </a:prstGeom>
        </p:spPr>
      </p:pic>
      <p:pic>
        <p:nvPicPr>
          <p:cNvPr id="7" name="Picture 6" descr="seasonal_compariso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114800"/>
            <a:ext cx="502920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UCI Online Retail Analysis | Abdeljalil El Khyati | September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Key Finding 2: Customer Segmentation (RFM)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E75B6"/>
                </a:solidFill>
              </a:defRPr>
            </a:pPr>
            <a:r>
              <a:t>Pareto 26/80 | Gini 0.142 | 4 Behavioral Segments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📊 Pareto Validation: Top 26% of customers generate 80% of revenue — close to classic 80/20 rule.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⚖️ Gini Coefficient = 0.142 (surprisingly low for B2B) — broad base of ~1,128 high-value wholesale customers, not whale-dependent.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🏆 Champions (28.6% | 1,243): Avg £5,465 revenue, 10 orders/year, 18-day recency — the core B2B engine.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⚠️ At Risk (27.4% | 1,188): Avg £580 revenue, 102-day recency — massive retention opportunity.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💤 Lost/Hibernating (20.4% | 885): Avg £228 revenue, 223-day recency — minimal ROI on marketing spend.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🎯 Critical Insight: 47.8% of customer base is At Risk or Lost — targeted win-back could add ~£690K annually.</a:t>
            </a:r>
          </a:p>
        </p:txBody>
      </p:sp>
      <p:pic>
        <p:nvPicPr>
          <p:cNvPr id="6" name="Picture 5" descr="lorenz_curve_customer_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737360"/>
            <a:ext cx="5029200" cy="2286000"/>
          </a:xfrm>
          <a:prstGeom prst="rect">
            <a:avLst/>
          </a:prstGeom>
        </p:spPr>
      </p:pic>
      <p:pic>
        <p:nvPicPr>
          <p:cNvPr id="7" name="Picture 6" descr="rfm_segment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114800"/>
            <a:ext cx="502920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UCI Online Retail Analysis | Abdeljalil El Khyati | September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Key Finding 3: Geographic Concentration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E75B6"/>
                </a:solidFill>
              </a:defRPr>
            </a:pPr>
            <a:r>
              <a:t>Dual Concentration Crisis — UK Dependency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🇬🇧 United Kingdom: 84.6% of total revenue (£9M) AND 90% of Champions (1,119 out of 1,243) — a dual concentration crisis.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🇮🇪 EIRE (Ireland): Only 4 customers generate £283K — average £70,785 per customer (highest per-customer value).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🇱 Netherlands: 9 customers generate £285K — average £31,716 per customer.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🇦 Australia: Highest AOV (£2,429) with only 9 customers — premium niche market.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🇫🇷 France &amp; 🇪 Germany: 35 and 33 Champions respectively — early traction for international expansion.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⚠️ Risk: Any UK disruption (Brexit, recession) would simultaneously impact revenue volume AND customer quality.</a:t>
            </a:r>
          </a:p>
        </p:txBody>
      </p:sp>
      <p:pic>
        <p:nvPicPr>
          <p:cNvPr id="6" name="Picture 5" descr="top_10_countries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737360"/>
            <a:ext cx="5029200" cy="2286000"/>
          </a:xfrm>
          <a:prstGeom prst="rect">
            <a:avLst/>
          </a:prstGeom>
        </p:spPr>
      </p:pic>
      <p:pic>
        <p:nvPicPr>
          <p:cNvPr id="7" name="Picture 6" descr="top_10_countries_champ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114800"/>
            <a:ext cx="502920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UCI Online Retail Analysis | Abdeljalil El Khyati | September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Product Portfolio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E75B6"/>
                </a:solidFill>
              </a:defRPr>
            </a:pPr>
            <a:r>
              <a:t>B2B Wholesale Patterns &amp; Dead Stock Alert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🏆 Top Revenue Product: REGENCY CAKESTAND 3 TIER (£174K across 1,988 invoices).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📦 Strong B2B Indicators (Avg_Qty &gt; 20/invoice):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   • MEDIUM CERAMIC TOP STORAGE JAR: 312 units/invoice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   • RABBIT NIGHT LIGHT: 30 units/invoice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   • JUMBO BAG RED RETROSPOT: 23 units/invoice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⚠️ Dead Stock Alert: Bottom 10 products generate only £4–£11 total — storage costs likely exceed revenue.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💡 Recommendation: Bundle or discontinue low-performers to free warehouse space.</a:t>
            </a:r>
          </a:p>
        </p:txBody>
      </p:sp>
      <p:pic>
        <p:nvPicPr>
          <p:cNvPr id="6" name="Picture 5" descr="top_10_physical_products_all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737360"/>
            <a:ext cx="5029200" cy="2286000"/>
          </a:xfrm>
          <a:prstGeom prst="rect">
            <a:avLst/>
          </a:prstGeom>
        </p:spPr>
      </p:pic>
      <p:pic>
        <p:nvPicPr>
          <p:cNvPr id="7" name="Picture 6" descr="bottom_10_products_reven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114800"/>
            <a:ext cx="502920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UCI Online Retail Analysis | Abdeljalil El Khyati | September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Operational Revenue &amp; Customer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E75B6"/>
                </a:solidFill>
              </a:defRPr>
            </a:pPr>
            <a:r>
              <a:t>Separating Service Fees from Product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📊 Operational Items Total: £362,268.47 (3.4% of revenue) — excluded from product rankings.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   • DOTCOM POSTAGE: £206K (706 transactions, £292 avg) — per-order shipping fee.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   • POSTAGE: £78K (3,150 units) — bulk shipping labels.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   • Manual: £77K (6,985 units) — accounting adjustments, NOT products.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👥 Unknown Customer Behavior: 16.5% of revenue from guest checkouts, spiking to 23.1% in November.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 Insight: Seasonal spikes attract more guest buyers — opportunity for post-purchase conversion.</a:t>
            </a:r>
          </a:p>
        </p:txBody>
      </p:sp>
      <p:pic>
        <p:nvPicPr>
          <p:cNvPr id="6" name="Picture 5" descr="operational_items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737360"/>
            <a:ext cx="5029200" cy="2286000"/>
          </a:xfrm>
          <a:prstGeom prst="rect">
            <a:avLst/>
          </a:prstGeom>
        </p:spPr>
      </p:pic>
      <p:pic>
        <p:nvPicPr>
          <p:cNvPr id="7" name="Picture 6" descr="monthly_revenue_by_customer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114800"/>
            <a:ext cx="502920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UCI Online Retail Analysis | Abdeljalil El Khyati | September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Strategic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E75B6"/>
                </a:solidFill>
              </a:defRPr>
            </a:pPr>
            <a:r>
              <a:t>Prioritized Action Plan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3807" y="1645920"/>
            <a:ext cx="3657600" cy="4389120"/>
          </a:xfrm>
          <a:prstGeom prst="roundRect">
            <a:avLst/>
          </a:prstGeom>
          <a:solidFill>
            <a:srgbClr val="FDEDEC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16374"/>
            <a:ext cx="3291840" cy="3057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C0392B"/>
                </a:solidFill>
              </a:defRPr>
            </a:pPr>
            <a:r>
              <a:rPr dirty="0"/>
              <a:t>🔴 HIGH PRIORITY (30 Days)</a:t>
            </a:r>
            <a:endParaRPr lang="fr-FR" dirty="0"/>
          </a:p>
          <a:p>
            <a:pPr>
              <a:defRPr sz="1600" b="1">
                <a:solidFill>
                  <a:srgbClr val="C0392B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300">
                <a:solidFill>
                  <a:srgbClr val="333333"/>
                </a:solidFill>
              </a:defRPr>
            </a:pPr>
            <a:r>
              <a:rPr sz="1600" dirty="0"/>
              <a:t>R1: VIP loyalty program for 1,119 UK Champions + dedicated account managers.</a:t>
            </a:r>
          </a:p>
          <a:p>
            <a:pPr>
              <a:spcAft>
                <a:spcPts val="1000"/>
              </a:spcAft>
              <a:defRPr sz="1300">
                <a:solidFill>
                  <a:srgbClr val="333333"/>
                </a:solidFill>
              </a:defRPr>
            </a:pPr>
            <a:r>
              <a:rPr sz="1600" dirty="0"/>
              <a:t>R2: Win-back email campaign for 1,188 At Risk customers (15% discount). Expected impact: ~£690K.</a:t>
            </a:r>
          </a:p>
          <a:p>
            <a:pPr>
              <a:spcAft>
                <a:spcPts val="1000"/>
              </a:spcAft>
              <a:defRPr sz="1300">
                <a:solidFill>
                  <a:srgbClr val="333333"/>
                </a:solidFill>
              </a:defRPr>
            </a:pPr>
            <a:r>
              <a:rPr sz="1600" dirty="0"/>
              <a:t>R3: Discontinue or bundle Bottom 10 products (&lt;£12/year each) to free warehouse space.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645920"/>
            <a:ext cx="3657600" cy="4389120"/>
          </a:xfrm>
          <a:prstGeom prst="roundRect">
            <a:avLst/>
          </a:prstGeom>
          <a:solidFill>
            <a:srgbClr val="FEF5E7"/>
          </a:solidFill>
          <a:ln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389120" y="1716374"/>
            <a:ext cx="3291840" cy="3303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67E22"/>
                </a:solidFill>
              </a:defRPr>
            </a:pPr>
            <a:r>
              <a:rPr dirty="0"/>
              <a:t>🟡 MEDIUM PRIORITY (90 Days)</a:t>
            </a:r>
            <a:endParaRPr lang="fr-FR" dirty="0"/>
          </a:p>
          <a:p>
            <a:pPr>
              <a:defRPr sz="1600" b="1">
                <a:solidFill>
                  <a:srgbClr val="E67E22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300">
                <a:solidFill>
                  <a:srgbClr val="333333"/>
                </a:solidFill>
              </a:defRPr>
            </a:pPr>
            <a:r>
              <a:rPr sz="1600" dirty="0"/>
              <a:t>R4: Dual-track seasonal inventory — pre-build RABBIT NIGHT LIGHT by early Oct; Christmas SKUs by mid-Sept.</a:t>
            </a:r>
          </a:p>
          <a:p>
            <a:pPr>
              <a:spcAft>
                <a:spcPts val="1000"/>
              </a:spcAft>
              <a:defRPr sz="1300">
                <a:solidFill>
                  <a:srgbClr val="333333"/>
                </a:solidFill>
              </a:defRPr>
            </a:pPr>
            <a:r>
              <a:rPr sz="1600" dirty="0"/>
              <a:t>R5: International diversification — target France/Germany; assign managers to EIRE/NL whale clients.</a:t>
            </a:r>
          </a:p>
          <a:p>
            <a:pPr>
              <a:spcAft>
                <a:spcPts val="1000"/>
              </a:spcAft>
              <a:defRPr sz="1300">
                <a:solidFill>
                  <a:srgbClr val="333333"/>
                </a:solidFill>
              </a:defRPr>
            </a:pPr>
            <a:r>
              <a:rPr sz="1600" dirty="0"/>
              <a:t>R6: Separate Product Revenue (£10.28M) from Operational Revenue (£362K) in all dashboards.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657600" cy="4389120"/>
          </a:xfrm>
          <a:prstGeom prst="roundRect">
            <a:avLst/>
          </a:prstGeom>
          <a:solidFill>
            <a:srgbClr val="E8F5E9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01553" y="1772587"/>
            <a:ext cx="3291840" cy="2811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E8B57"/>
                </a:solidFill>
              </a:defRPr>
            </a:pPr>
            <a:r>
              <a:rPr dirty="0"/>
              <a:t> LONG-TERM (6-12 Months)</a:t>
            </a:r>
            <a:endParaRPr lang="fr-FR" dirty="0"/>
          </a:p>
          <a:p>
            <a:pPr>
              <a:defRPr sz="1600" b="1">
                <a:solidFill>
                  <a:srgbClr val="2E8B57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300">
                <a:solidFill>
                  <a:srgbClr val="333333"/>
                </a:solidFill>
              </a:defRPr>
            </a:pPr>
            <a:r>
              <a:rPr sz="1600" dirty="0"/>
              <a:t>R7: Guest-to-registered conversion — post-purchase email flows for 15-23% Unknown customer revenue.</a:t>
            </a:r>
          </a:p>
          <a:p>
            <a:pPr>
              <a:spcAft>
                <a:spcPts val="1000"/>
              </a:spcAft>
              <a:defRPr sz="1300">
                <a:solidFill>
                  <a:srgbClr val="333333"/>
                </a:solidFill>
              </a:defRPr>
            </a:pPr>
            <a:r>
              <a:rPr sz="1600" dirty="0"/>
              <a:t>R8: Upsell 1,022 Loyal Customers to Champions via volume-based bundle discounts.</a:t>
            </a:r>
          </a:p>
          <a:p>
            <a:pPr>
              <a:spcAft>
                <a:spcPts val="1000"/>
              </a:spcAft>
              <a:defRPr sz="1300">
                <a:solidFill>
                  <a:srgbClr val="333333"/>
                </a:solidFill>
              </a:defRPr>
            </a:pPr>
            <a:r>
              <a:rPr sz="1600" dirty="0"/>
              <a:t>Target: Reduce UK revenue share from 84.6% to &lt;70% within 2 years.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UCI Online Retail Analysis | Abdeljalil El Khyati | September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Next Steps for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E75B6"/>
                </a:solidFill>
              </a:defRPr>
            </a:pPr>
            <a:r>
              <a:t>5 Strategic Areas for Future Investigation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1️⃣ Customer Lifetime Value (CLV): How much is a Champion worth over their entire relationship with the company?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2️⃣ Cohort Retention Analysis: Are we successfully retaining customers acquired in different months, or is churn accelerating?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3️⃣ Market Basket Analysis: Which products are frequently purchased together? (Cross-selling opportunities).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4️⃣ Pricing Elasticity: Can we increase prices on high-demand B2B products without losing volume?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5️⃣ Channel Attribution: Where do 'Unknown' customers come from, and can we convert them more efficiently?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UCI Online Retail Analysis | Abdeljalil El Khyati | September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4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 algn="l">
              <a:defRPr sz="3600">
                <a:solidFill>
                  <a:srgbClr val="BBDEFB"/>
                </a:solidFill>
              </a:defRPr>
            </a:pPr>
            <a:r>
              <a:t>Questions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3474720"/>
            <a:ext cx="2743200" cy="508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Abdeljalil El Khyati</a:t>
            </a:r>
          </a:p>
          <a:p>
            <a:pPr>
              <a:defRPr sz="1800">
                <a:solidFill>
                  <a:srgbClr val="BBDEFB"/>
                </a:solidFill>
              </a:defRPr>
            </a:pPr>
            <a:r>
              <a:t>Lead Data Analyst</a:t>
            </a:r>
          </a:p>
          <a:p>
            <a:pPr>
              <a:defRPr sz="1800">
                <a:solidFill>
                  <a:srgbClr val="BBDEFB"/>
                </a:solidFill>
              </a:defRPr>
            </a:pPr>
            <a:r>
              <a:t>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692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90CAF9"/>
                </a:solidFill>
              </a:defRPr>
            </a:pPr>
            <a:r>
              <a:t>Analysis conducted using Python, Pandas, Matplotlib &amp; Seaborn. All findings are evidence-based and derived from the UCI Online Retail dataset (ID: 352).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1363</Words>
  <Application>Microsoft Office PowerPoint</Application>
  <PresentationFormat>Widescreen</PresentationFormat>
  <Paragraphs>97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abdeljalil el khyati</cp:lastModifiedBy>
  <cp:revision>2</cp:revision>
  <dcterms:created xsi:type="dcterms:W3CDTF">2013-01-27T09:14:16Z</dcterms:created>
  <dcterms:modified xsi:type="dcterms:W3CDTF">2026-09-13T20:22:36Z</dcterms:modified>
  <cp:category/>
</cp:coreProperties>
</file>